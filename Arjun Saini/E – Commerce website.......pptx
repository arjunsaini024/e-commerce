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7" r:id="rId5"/>
    <p:sldId id="269" r:id="rId6"/>
    <p:sldId id="259" r:id="rId7"/>
    <p:sldId id="260" r:id="rId8"/>
    <p:sldId id="262" r:id="rId9"/>
    <p:sldId id="263" r:id="rId10"/>
    <p:sldId id="266" r:id="rId11"/>
    <p:sldId id="270" r:id="rId12"/>
    <p:sldId id="268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2BBD99-FA57-402C-9CCF-D8A37ED9DC0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4854E4E-133B-4B31-913B-9ECD6213783C}">
      <dgm:prSet phldrT="[Text]"/>
      <dgm:spPr/>
      <dgm:t>
        <a:bodyPr/>
        <a:lstStyle/>
        <a:p>
          <a:r>
            <a:rPr lang="en-US" b="1" i="0" dirty="0"/>
            <a:t>1. Business to business </a:t>
          </a:r>
        </a:p>
        <a:p>
          <a:endParaRPr lang="en-US" b="0" i="0" dirty="0"/>
        </a:p>
        <a:p>
          <a:r>
            <a:rPr lang="en-US" b="0" i="0" dirty="0"/>
            <a:t>E-commerce refers to the electronic exchange of products, services or information between businesses rather than between businesses and consumers.</a:t>
          </a:r>
          <a:endParaRPr lang="en-IN" dirty="0"/>
        </a:p>
      </dgm:t>
    </dgm:pt>
    <dgm:pt modelId="{FA2AC3E0-6B9E-4CF5-97A1-536B2F740C7B}" type="parTrans" cxnId="{A043841A-D2DF-491B-ACE3-29AA2D2736B9}">
      <dgm:prSet/>
      <dgm:spPr/>
      <dgm:t>
        <a:bodyPr/>
        <a:lstStyle/>
        <a:p>
          <a:endParaRPr lang="en-IN"/>
        </a:p>
      </dgm:t>
    </dgm:pt>
    <dgm:pt modelId="{79C36581-7C59-4CE6-A86D-82339AF31BE5}" type="sibTrans" cxnId="{A043841A-D2DF-491B-ACE3-29AA2D2736B9}">
      <dgm:prSet/>
      <dgm:spPr/>
      <dgm:t>
        <a:bodyPr/>
        <a:lstStyle/>
        <a:p>
          <a:endParaRPr lang="en-IN"/>
        </a:p>
      </dgm:t>
    </dgm:pt>
    <dgm:pt modelId="{7F65BCBC-061C-4DAE-BB12-60AF7B5AC39C}">
      <dgm:prSet phldrT="[Text]"/>
      <dgm:spPr/>
      <dgm:t>
        <a:bodyPr/>
        <a:lstStyle/>
        <a:p>
          <a:r>
            <a:rPr lang="en-US" b="1" i="0" dirty="0"/>
            <a:t>2.Business to consumer </a:t>
          </a:r>
          <a:r>
            <a:rPr lang="en-US" b="0" i="0" dirty="0"/>
            <a:t> </a:t>
          </a:r>
        </a:p>
        <a:p>
          <a:endParaRPr lang="en-US" b="0" i="0" dirty="0"/>
        </a:p>
        <a:p>
          <a:r>
            <a:rPr lang="en-US" b="0" i="0" dirty="0"/>
            <a:t>Is the retail part of e-commerce on the internet. It is when businesses sell products, services or information directly to consumers. </a:t>
          </a:r>
          <a:endParaRPr lang="en-IN" dirty="0"/>
        </a:p>
      </dgm:t>
    </dgm:pt>
    <dgm:pt modelId="{743031A7-B110-4FB4-A57D-ADC749BD8D3F}" type="parTrans" cxnId="{4A432D52-4719-4E6E-AF8E-A8CB08AAF6D9}">
      <dgm:prSet/>
      <dgm:spPr/>
      <dgm:t>
        <a:bodyPr/>
        <a:lstStyle/>
        <a:p>
          <a:endParaRPr lang="en-IN"/>
        </a:p>
      </dgm:t>
    </dgm:pt>
    <dgm:pt modelId="{14256883-EFE1-4390-BD1A-334A7E4B71FA}" type="sibTrans" cxnId="{4A432D52-4719-4E6E-AF8E-A8CB08AAF6D9}">
      <dgm:prSet/>
      <dgm:spPr/>
      <dgm:t>
        <a:bodyPr/>
        <a:lstStyle/>
        <a:p>
          <a:endParaRPr lang="en-IN"/>
        </a:p>
      </dgm:t>
    </dgm:pt>
    <dgm:pt modelId="{CB3A1405-CA19-432F-B438-FDA4069C9617}" type="pres">
      <dgm:prSet presAssocID="{912BBD99-FA57-402C-9CCF-D8A37ED9DC07}" presName="diagram" presStyleCnt="0">
        <dgm:presLayoutVars>
          <dgm:dir/>
          <dgm:resizeHandles val="exact"/>
        </dgm:presLayoutVars>
      </dgm:prSet>
      <dgm:spPr/>
    </dgm:pt>
    <dgm:pt modelId="{E2E40594-786A-4461-AA17-DB59FD30DA1A}" type="pres">
      <dgm:prSet presAssocID="{64854E4E-133B-4B31-913B-9ECD6213783C}" presName="node" presStyleLbl="node1" presStyleIdx="0" presStyleCnt="2" custScaleX="109633" custScaleY="152450">
        <dgm:presLayoutVars>
          <dgm:bulletEnabled val="1"/>
        </dgm:presLayoutVars>
      </dgm:prSet>
      <dgm:spPr/>
    </dgm:pt>
    <dgm:pt modelId="{22781344-CF4C-487C-ABE6-96DC041C1F7D}" type="pres">
      <dgm:prSet presAssocID="{79C36581-7C59-4CE6-A86D-82339AF31BE5}" presName="sibTrans" presStyleCnt="0"/>
      <dgm:spPr/>
    </dgm:pt>
    <dgm:pt modelId="{F377E2E0-3026-4456-86FA-97B644B70A87}" type="pres">
      <dgm:prSet presAssocID="{7F65BCBC-061C-4DAE-BB12-60AF7B5AC39C}" presName="node" presStyleLbl="node1" presStyleIdx="1" presStyleCnt="2" custScaleX="104116" custScaleY="150372">
        <dgm:presLayoutVars>
          <dgm:bulletEnabled val="1"/>
        </dgm:presLayoutVars>
      </dgm:prSet>
      <dgm:spPr/>
    </dgm:pt>
  </dgm:ptLst>
  <dgm:cxnLst>
    <dgm:cxn modelId="{A043841A-D2DF-491B-ACE3-29AA2D2736B9}" srcId="{912BBD99-FA57-402C-9CCF-D8A37ED9DC07}" destId="{64854E4E-133B-4B31-913B-9ECD6213783C}" srcOrd="0" destOrd="0" parTransId="{FA2AC3E0-6B9E-4CF5-97A1-536B2F740C7B}" sibTransId="{79C36581-7C59-4CE6-A86D-82339AF31BE5}"/>
    <dgm:cxn modelId="{45C0F345-33F6-4C65-BDA8-0B0A99FE7C72}" type="presOf" srcId="{912BBD99-FA57-402C-9CCF-D8A37ED9DC07}" destId="{CB3A1405-CA19-432F-B438-FDA4069C9617}" srcOrd="0" destOrd="0" presId="urn:microsoft.com/office/officeart/2005/8/layout/default"/>
    <dgm:cxn modelId="{4A432D52-4719-4E6E-AF8E-A8CB08AAF6D9}" srcId="{912BBD99-FA57-402C-9CCF-D8A37ED9DC07}" destId="{7F65BCBC-061C-4DAE-BB12-60AF7B5AC39C}" srcOrd="1" destOrd="0" parTransId="{743031A7-B110-4FB4-A57D-ADC749BD8D3F}" sibTransId="{14256883-EFE1-4390-BD1A-334A7E4B71FA}"/>
    <dgm:cxn modelId="{A0391D8B-0A01-4C97-9176-A358ACD849A8}" type="presOf" srcId="{7F65BCBC-061C-4DAE-BB12-60AF7B5AC39C}" destId="{F377E2E0-3026-4456-86FA-97B644B70A87}" srcOrd="0" destOrd="0" presId="urn:microsoft.com/office/officeart/2005/8/layout/default"/>
    <dgm:cxn modelId="{A225F3CE-390F-4FE4-9727-3FF234460022}" type="presOf" srcId="{64854E4E-133B-4B31-913B-9ECD6213783C}" destId="{E2E40594-786A-4461-AA17-DB59FD30DA1A}" srcOrd="0" destOrd="0" presId="urn:microsoft.com/office/officeart/2005/8/layout/default"/>
    <dgm:cxn modelId="{FCE28C3E-05EE-4774-B7B6-CA74BA5EA53D}" type="presParOf" srcId="{CB3A1405-CA19-432F-B438-FDA4069C9617}" destId="{E2E40594-786A-4461-AA17-DB59FD30DA1A}" srcOrd="0" destOrd="0" presId="urn:microsoft.com/office/officeart/2005/8/layout/default"/>
    <dgm:cxn modelId="{7E50C1A7-8607-4BD1-BF99-5572585985A8}" type="presParOf" srcId="{CB3A1405-CA19-432F-B438-FDA4069C9617}" destId="{22781344-CF4C-487C-ABE6-96DC041C1F7D}" srcOrd="1" destOrd="0" presId="urn:microsoft.com/office/officeart/2005/8/layout/default"/>
    <dgm:cxn modelId="{937B099C-55B1-4ADC-87F2-96AEEDC241F8}" type="presParOf" srcId="{CB3A1405-CA19-432F-B438-FDA4069C9617}" destId="{F377E2E0-3026-4456-86FA-97B644B70A8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588960-259B-4677-93CF-C245D99420D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0CA5E20-0FD5-437E-8F95-BCE28AC0CA86}">
      <dgm:prSet phldrT="[Text]"/>
      <dgm:spPr/>
      <dgm:t>
        <a:bodyPr/>
        <a:lstStyle/>
        <a:p>
          <a:r>
            <a:rPr lang="en-US" b="1" i="0" dirty="0"/>
            <a:t>3. Consumer-to-consumer</a:t>
          </a:r>
        </a:p>
        <a:p>
          <a:endParaRPr lang="en-US" b="0" i="0" dirty="0"/>
        </a:p>
        <a:p>
          <a:r>
            <a:rPr lang="en-US" b="0" i="0" dirty="0"/>
            <a:t>Is a type of e-commerce in which consumers trade products, services and information with each other online.</a:t>
          </a:r>
          <a:endParaRPr lang="en-IN" dirty="0"/>
        </a:p>
      </dgm:t>
    </dgm:pt>
    <dgm:pt modelId="{40E4367A-6E5C-45B1-B9B3-7BC07EBA9E08}" type="parTrans" cxnId="{04038490-5EB0-4180-A3B2-A82DA60B63AF}">
      <dgm:prSet/>
      <dgm:spPr/>
      <dgm:t>
        <a:bodyPr/>
        <a:lstStyle/>
        <a:p>
          <a:endParaRPr lang="en-IN"/>
        </a:p>
      </dgm:t>
    </dgm:pt>
    <dgm:pt modelId="{759CDE52-E554-4DAC-A3B7-0B9E37B344CB}" type="sibTrans" cxnId="{04038490-5EB0-4180-A3B2-A82DA60B63AF}">
      <dgm:prSet/>
      <dgm:spPr/>
      <dgm:t>
        <a:bodyPr/>
        <a:lstStyle/>
        <a:p>
          <a:endParaRPr lang="en-IN"/>
        </a:p>
      </dgm:t>
    </dgm:pt>
    <dgm:pt modelId="{B6C1E76A-D4D2-41B8-9D04-D2978136E2CA}">
      <dgm:prSet phldrT="[Text]"/>
      <dgm:spPr/>
      <dgm:t>
        <a:bodyPr/>
        <a:lstStyle/>
        <a:p>
          <a:r>
            <a:rPr lang="en-US" b="1" i="0" dirty="0"/>
            <a:t>4. Consumer to business </a:t>
          </a:r>
        </a:p>
        <a:p>
          <a:endParaRPr lang="en-US" b="1" i="0" dirty="0"/>
        </a:p>
        <a:p>
          <a:r>
            <a:rPr lang="en-US" b="1" i="0" dirty="0"/>
            <a:t>I</a:t>
          </a:r>
          <a:r>
            <a:rPr lang="en-US" b="0" i="0" dirty="0"/>
            <a:t>s a type of e-commerce in which consumers make their products and services available online for companies to bid on and purchase.</a:t>
          </a:r>
          <a:endParaRPr lang="en-IN" dirty="0"/>
        </a:p>
      </dgm:t>
    </dgm:pt>
    <dgm:pt modelId="{8893CD09-A653-4C4D-AB8C-65FC5A9B9E71}" type="parTrans" cxnId="{6CD10F8C-4AA6-4FCC-A7A1-BC0A969C3270}">
      <dgm:prSet/>
      <dgm:spPr/>
      <dgm:t>
        <a:bodyPr/>
        <a:lstStyle/>
        <a:p>
          <a:endParaRPr lang="en-IN"/>
        </a:p>
      </dgm:t>
    </dgm:pt>
    <dgm:pt modelId="{D358F493-5EB8-42A0-893B-942A9615C6A9}" type="sibTrans" cxnId="{6CD10F8C-4AA6-4FCC-A7A1-BC0A969C3270}">
      <dgm:prSet/>
      <dgm:spPr/>
      <dgm:t>
        <a:bodyPr/>
        <a:lstStyle/>
        <a:p>
          <a:endParaRPr lang="en-IN"/>
        </a:p>
      </dgm:t>
    </dgm:pt>
    <dgm:pt modelId="{117BDC66-65C6-4335-B8E6-AA6A8106243E}" type="pres">
      <dgm:prSet presAssocID="{8F588960-259B-4677-93CF-C245D99420DB}" presName="diagram" presStyleCnt="0">
        <dgm:presLayoutVars>
          <dgm:dir/>
          <dgm:resizeHandles val="exact"/>
        </dgm:presLayoutVars>
      </dgm:prSet>
      <dgm:spPr/>
    </dgm:pt>
    <dgm:pt modelId="{DCB3C6A0-D666-41B1-A3AE-081EFD9A032D}" type="pres">
      <dgm:prSet presAssocID="{A0CA5E20-0FD5-437E-8F95-BCE28AC0CA86}" presName="node" presStyleLbl="node1" presStyleIdx="0" presStyleCnt="2" custScaleX="104852" custScaleY="149352">
        <dgm:presLayoutVars>
          <dgm:bulletEnabled val="1"/>
        </dgm:presLayoutVars>
      </dgm:prSet>
      <dgm:spPr/>
    </dgm:pt>
    <dgm:pt modelId="{A71E0C77-48BE-4076-9D25-2A7B6AF72C95}" type="pres">
      <dgm:prSet presAssocID="{759CDE52-E554-4DAC-A3B7-0B9E37B344CB}" presName="sibTrans" presStyleCnt="0"/>
      <dgm:spPr/>
    </dgm:pt>
    <dgm:pt modelId="{24418AB0-3E52-4271-8E02-931AA7347F7F}" type="pres">
      <dgm:prSet presAssocID="{B6C1E76A-D4D2-41B8-9D04-D2978136E2CA}" presName="node" presStyleLbl="node1" presStyleIdx="1" presStyleCnt="2" custScaleX="108446" custScaleY="154884">
        <dgm:presLayoutVars>
          <dgm:bulletEnabled val="1"/>
        </dgm:presLayoutVars>
      </dgm:prSet>
      <dgm:spPr/>
    </dgm:pt>
  </dgm:ptLst>
  <dgm:cxnLst>
    <dgm:cxn modelId="{9A78D770-722A-4216-A3C1-D1D0B0D549F0}" type="presOf" srcId="{B6C1E76A-D4D2-41B8-9D04-D2978136E2CA}" destId="{24418AB0-3E52-4271-8E02-931AA7347F7F}" srcOrd="0" destOrd="0" presId="urn:microsoft.com/office/officeart/2005/8/layout/default"/>
    <dgm:cxn modelId="{6CD10F8C-4AA6-4FCC-A7A1-BC0A969C3270}" srcId="{8F588960-259B-4677-93CF-C245D99420DB}" destId="{B6C1E76A-D4D2-41B8-9D04-D2978136E2CA}" srcOrd="1" destOrd="0" parTransId="{8893CD09-A653-4C4D-AB8C-65FC5A9B9E71}" sibTransId="{D358F493-5EB8-42A0-893B-942A9615C6A9}"/>
    <dgm:cxn modelId="{04038490-5EB0-4180-A3B2-A82DA60B63AF}" srcId="{8F588960-259B-4677-93CF-C245D99420DB}" destId="{A0CA5E20-0FD5-437E-8F95-BCE28AC0CA86}" srcOrd="0" destOrd="0" parTransId="{40E4367A-6E5C-45B1-B9B3-7BC07EBA9E08}" sibTransId="{759CDE52-E554-4DAC-A3B7-0B9E37B344CB}"/>
    <dgm:cxn modelId="{D968EFA7-065C-4799-A300-476FAB6BDC60}" type="presOf" srcId="{A0CA5E20-0FD5-437E-8F95-BCE28AC0CA86}" destId="{DCB3C6A0-D666-41B1-A3AE-081EFD9A032D}" srcOrd="0" destOrd="0" presId="urn:microsoft.com/office/officeart/2005/8/layout/default"/>
    <dgm:cxn modelId="{73F149EE-781F-468F-BE07-8BC53A01FA7C}" type="presOf" srcId="{8F588960-259B-4677-93CF-C245D99420DB}" destId="{117BDC66-65C6-4335-B8E6-AA6A8106243E}" srcOrd="0" destOrd="0" presId="urn:microsoft.com/office/officeart/2005/8/layout/default"/>
    <dgm:cxn modelId="{3DC2DCD5-4182-4CC6-8D1D-1E5CB334160E}" type="presParOf" srcId="{117BDC66-65C6-4335-B8E6-AA6A8106243E}" destId="{DCB3C6A0-D666-41B1-A3AE-081EFD9A032D}" srcOrd="0" destOrd="0" presId="urn:microsoft.com/office/officeart/2005/8/layout/default"/>
    <dgm:cxn modelId="{C261A77C-A2AB-4415-A295-9947D5626ED1}" type="presParOf" srcId="{117BDC66-65C6-4335-B8E6-AA6A8106243E}" destId="{A71E0C77-48BE-4076-9D25-2A7B6AF72C95}" srcOrd="1" destOrd="0" presId="urn:microsoft.com/office/officeart/2005/8/layout/default"/>
    <dgm:cxn modelId="{ECCEE07C-3927-47A2-B605-933D95E49742}" type="presParOf" srcId="{117BDC66-65C6-4335-B8E6-AA6A8106243E}" destId="{24418AB0-3E52-4271-8E02-931AA7347F7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40594-786A-4461-AA17-DB59FD30DA1A}">
      <dsp:nvSpPr>
        <dsp:cNvPr id="0" name=""/>
        <dsp:cNvSpPr/>
      </dsp:nvSpPr>
      <dsp:spPr>
        <a:xfrm>
          <a:off x="1762" y="654525"/>
          <a:ext cx="5076055" cy="4235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1. Business to business 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0" i="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E-commerce refers to the electronic exchange of products, services or information between businesses rather than between businesses and consumers.</a:t>
          </a:r>
          <a:endParaRPr lang="en-IN" sz="3200" kern="1200" dirty="0"/>
        </a:p>
      </dsp:txBody>
      <dsp:txXfrm>
        <a:off x="1762" y="654525"/>
        <a:ext cx="5076055" cy="4235100"/>
      </dsp:txXfrm>
    </dsp:sp>
    <dsp:sp modelId="{F377E2E0-3026-4456-86FA-97B644B70A87}">
      <dsp:nvSpPr>
        <dsp:cNvPr id="0" name=""/>
        <dsp:cNvSpPr/>
      </dsp:nvSpPr>
      <dsp:spPr>
        <a:xfrm>
          <a:off x="5540821" y="683389"/>
          <a:ext cx="4820615" cy="4177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2.Business to consumer </a:t>
          </a:r>
          <a:r>
            <a:rPr lang="en-US" sz="3200" b="0" i="0" kern="1200" dirty="0"/>
            <a:t> 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0" i="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Is the retail part of e-commerce on the internet. It is when businesses sell products, services or information directly to consumers. </a:t>
          </a:r>
          <a:endParaRPr lang="en-IN" sz="3200" kern="1200" dirty="0"/>
        </a:p>
      </dsp:txBody>
      <dsp:txXfrm>
        <a:off x="5540821" y="683389"/>
        <a:ext cx="4820615" cy="41773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3C6A0-D666-41B1-A3AE-081EFD9A032D}">
      <dsp:nvSpPr>
        <dsp:cNvPr id="0" name=""/>
        <dsp:cNvSpPr/>
      </dsp:nvSpPr>
      <dsp:spPr>
        <a:xfrm>
          <a:off x="904" y="606395"/>
          <a:ext cx="4865304" cy="41581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i="0" kern="1200" dirty="0"/>
            <a:t>3. Consumer-to-consumer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b="0" i="0" kern="1200" dirty="0"/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/>
            <a:t>Is a type of e-commerce in which consumers trade products, services and information with each other online.</a:t>
          </a:r>
          <a:endParaRPr lang="en-IN" sz="3500" kern="1200" dirty="0"/>
        </a:p>
      </dsp:txBody>
      <dsp:txXfrm>
        <a:off x="904" y="606395"/>
        <a:ext cx="4865304" cy="4158105"/>
      </dsp:txXfrm>
    </dsp:sp>
    <dsp:sp modelId="{24418AB0-3E52-4271-8E02-931AA7347F7F}">
      <dsp:nvSpPr>
        <dsp:cNvPr id="0" name=""/>
        <dsp:cNvSpPr/>
      </dsp:nvSpPr>
      <dsp:spPr>
        <a:xfrm>
          <a:off x="5330224" y="529387"/>
          <a:ext cx="5032071" cy="43121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i="0" kern="1200" dirty="0"/>
            <a:t>4. Consumer to business 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b="1" i="0" kern="1200" dirty="0"/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i="0" kern="1200" dirty="0"/>
            <a:t>I</a:t>
          </a:r>
          <a:r>
            <a:rPr lang="en-US" sz="3500" b="0" i="0" kern="1200" dirty="0"/>
            <a:t>s a type of e-commerce in which consumers make their products and services available online for companies to bid on and purchase.</a:t>
          </a:r>
          <a:endParaRPr lang="en-IN" sz="3500" kern="1200" dirty="0"/>
        </a:p>
      </dsp:txBody>
      <dsp:txXfrm>
        <a:off x="5330224" y="529387"/>
        <a:ext cx="5032071" cy="4312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51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5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6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68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73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4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26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60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12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3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389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237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55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65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49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286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72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44F9965-701F-4D47-A8F1-0CC4E1D18D0A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FBC0428-0A09-474B-B17F-4F1896D8C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52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72B2-3F91-7414-A5DB-DC275C2F0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875552"/>
          </a:xfrm>
        </p:spPr>
        <p:txBody>
          <a:bodyPr/>
          <a:lstStyle/>
          <a:p>
            <a:r>
              <a:rPr lang="en-IN" sz="4800" b="1" dirty="0"/>
              <a:t>E – Commerce website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2BCC9-620A-3310-5BA0-C16269864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202" y="5205893"/>
            <a:ext cx="3061620" cy="1058779"/>
          </a:xfrm>
        </p:spPr>
        <p:txBody>
          <a:bodyPr/>
          <a:lstStyle/>
          <a:p>
            <a:r>
              <a:rPr lang="en-IN" b="1" dirty="0"/>
              <a:t>Under guided by</a:t>
            </a:r>
            <a:r>
              <a:rPr lang="en-IN" dirty="0"/>
              <a:t>:- Mr Rajesh Kumar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289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010B-5388-6292-1188-9B8780A0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INTODUCTION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CC5BF-25B8-81BF-ECB0-DB5F694F5F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</a:rPr>
              <a:t>E</a:t>
            </a:r>
            <a:r>
              <a:rPr lang="en-US" sz="2000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lectronic commerce is the buying and selling of goods and services, or the transmitting of funds or data, over an electronic network, primarily the internet.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E-commerce is powered by the internet. Customers access an online store to browse through and place orders for products or services via their own devices.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6957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0364-D588-7396-E202-7E06766B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27629"/>
            <a:ext cx="10364451" cy="1596177"/>
          </a:xfrm>
        </p:spPr>
        <p:txBody>
          <a:bodyPr/>
          <a:lstStyle/>
          <a:p>
            <a:r>
              <a:rPr lang="en-IN" sz="3600" b="1" u="sng" dirty="0"/>
              <a:t>Technology and tools used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138E9-4DC7-8416-D7B8-8F06F64572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569945"/>
            <a:ext cx="10363826" cy="3984859"/>
          </a:xfrm>
        </p:spPr>
        <p:txBody>
          <a:bodyPr/>
          <a:lstStyle/>
          <a:p>
            <a:r>
              <a:rPr lang="en-IN" b="1" dirty="0"/>
              <a:t>HTML</a:t>
            </a:r>
            <a:r>
              <a:rPr lang="en-IN" dirty="0"/>
              <a:t> </a:t>
            </a:r>
            <a:r>
              <a:rPr lang="en-IN" sz="2400" cap="none" dirty="0"/>
              <a:t>:- </a:t>
            </a:r>
            <a:r>
              <a:rPr lang="en-US" sz="2400" cap="none" dirty="0"/>
              <a:t>HTML stands for hyper text markup language it is the standard markup language for creating web pages.</a:t>
            </a:r>
            <a:endParaRPr lang="en-IN" sz="2400" cap="none" dirty="0"/>
          </a:p>
          <a:p>
            <a:r>
              <a:rPr lang="en-IN" b="1" dirty="0"/>
              <a:t>CSS</a:t>
            </a:r>
            <a:r>
              <a:rPr lang="en-IN" dirty="0"/>
              <a:t>:- </a:t>
            </a:r>
            <a:r>
              <a:rPr lang="en-US" sz="2400" cap="none" dirty="0"/>
              <a:t>Cascading style sheets is a style sheet language used for describing the presentation of a document written in a markup language such as html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78567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580F1-E495-7992-7E49-C8A2B23A30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05288"/>
            <a:ext cx="10363826" cy="4385911"/>
          </a:xfrm>
        </p:spPr>
        <p:txBody>
          <a:bodyPr/>
          <a:lstStyle/>
          <a:p>
            <a:r>
              <a:rPr lang="en-IN" b="1" dirty="0"/>
              <a:t>VISUAL STUDIO</a:t>
            </a:r>
            <a:r>
              <a:rPr lang="en-IN" dirty="0"/>
              <a:t>:- </a:t>
            </a:r>
            <a:r>
              <a:rPr lang="en-US" sz="2400" cap="none" dirty="0"/>
              <a:t>Visual studio is an integrated development environment from microsoft. It is used to develop computer programs including websites, web apps, web services and mobile apps</a:t>
            </a:r>
            <a:r>
              <a:rPr lang="en-US" cap="none" dirty="0"/>
              <a:t>.</a:t>
            </a:r>
            <a:endParaRPr lang="en-IN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7D4D3A-194F-63A9-9947-264659C0E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277" y="4052236"/>
            <a:ext cx="2655723" cy="280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0077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C38B-2342-CD41-DE02-CA3E3A4F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Types of e- commerce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A0F0C-1817-FF53-5469-2EC662162C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Business to business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Business to consumer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Consumer to consumer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Consumer to business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8809082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210668-3AB3-3550-FDA4-F00BD72D68F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05071979"/>
              </p:ext>
            </p:extLst>
          </p:nvPr>
        </p:nvGraphicFramePr>
        <p:xfrm>
          <a:off x="914400" y="885524"/>
          <a:ext cx="10363200" cy="5544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3776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67C314-29CF-69BB-B23F-7664F0F4185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40347308"/>
              </p:ext>
            </p:extLst>
          </p:nvPr>
        </p:nvGraphicFramePr>
        <p:xfrm>
          <a:off x="914400" y="779646"/>
          <a:ext cx="10363200" cy="537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40598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8E69-8E30-C37F-AF86-3B50D568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ADVANTAGE</a:t>
            </a:r>
            <a:r>
              <a:rPr lang="en-IN" b="1" i="1" u="sng" dirty="0"/>
              <a:t> </a:t>
            </a:r>
            <a:r>
              <a:rPr lang="en-IN" b="1" u="sng" dirty="0"/>
              <a:t>OF</a:t>
            </a:r>
            <a:r>
              <a:rPr lang="en-IN" b="1" i="1" u="sng" dirty="0"/>
              <a:t> E </a:t>
            </a:r>
            <a:r>
              <a:rPr lang="en-IN" b="1" u="sng" dirty="0"/>
              <a:t>-</a:t>
            </a:r>
            <a:r>
              <a:rPr lang="en-IN" b="1" i="1" u="sng" dirty="0"/>
              <a:t> </a:t>
            </a:r>
            <a:r>
              <a:rPr lang="en-IN" b="1" u="sng" dirty="0"/>
              <a:t>COMMERCE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77E4-6D3B-8730-54C6-389E0ABB15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</a:rPr>
              <a:t>Availability</a:t>
            </a:r>
            <a:r>
              <a:rPr lang="en-I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:- </a:t>
            </a:r>
            <a:r>
              <a:rPr lang="en-IN" b="1" i="0" cap="non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It tells the availability of the product which customer prefer to purchase it.</a:t>
            </a:r>
            <a:endParaRPr lang="en-IN" b="1" cap="none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</a:rPr>
              <a:t>Easy accessibility</a:t>
            </a:r>
            <a:r>
              <a:rPr lang="en-I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:- </a:t>
            </a:r>
            <a:r>
              <a:rPr lang="en-IN" b="1" i="0" cap="non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To get information easily with the help images, text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</a:rPr>
              <a:t>Speed of access</a:t>
            </a:r>
            <a:r>
              <a:rPr lang="en-I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:- </a:t>
            </a:r>
            <a:r>
              <a:rPr lang="en-IN" b="1" i="0" cap="non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To loading the content on a URL</a:t>
            </a:r>
            <a:r>
              <a:rPr lang="en-I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</a:rPr>
              <a:t>Lower cost</a:t>
            </a:r>
            <a:r>
              <a:rPr lang="en-I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:- </a:t>
            </a:r>
            <a:r>
              <a:rPr lang="en-IN" b="1" i="0" cap="non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Showin</a:t>
            </a:r>
            <a:r>
              <a:rPr lang="en-IN" b="1" cap="none" dirty="0">
                <a:solidFill>
                  <a:srgbClr val="666666"/>
                </a:solidFill>
                <a:latin typeface="Arial" panose="020B0604020202020204" pitchFamily="34" charset="0"/>
              </a:rPr>
              <a:t>g low price product to customer</a:t>
            </a:r>
            <a:r>
              <a:rPr lang="en-IN" b="1" dirty="0">
                <a:solidFill>
                  <a:srgbClr val="666666"/>
                </a:solidFill>
                <a:latin typeface="Arial" panose="020B0604020202020204" pitchFamily="34" charset="0"/>
              </a:rPr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63767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50E4-D0C0-C74D-A1F9-C1AA9F2D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DISADVANTAGE OF E - COMMERCE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9FB8A-888C-D649-E140-FAB86FA654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sz="2400" b="1" dirty="0"/>
              <a:t>Wait</a:t>
            </a:r>
            <a:r>
              <a:rPr lang="en-IN" dirty="0"/>
              <a:t> </a:t>
            </a:r>
            <a:r>
              <a:rPr lang="en-IN" sz="2400" b="1" dirty="0"/>
              <a:t>time</a:t>
            </a:r>
            <a:r>
              <a:rPr lang="en-IN" dirty="0"/>
              <a:t> :- </a:t>
            </a:r>
            <a:r>
              <a:rPr lang="en-IN" sz="2400" cap="none" dirty="0"/>
              <a:t>Taking to much time for delivery</a:t>
            </a:r>
            <a:r>
              <a:rPr lang="en-IN" cap="none" dirty="0"/>
              <a:t>.</a:t>
            </a:r>
            <a:endParaRPr lang="en-IN" dirty="0"/>
          </a:p>
          <a:p>
            <a:r>
              <a:rPr lang="en-IN" sz="2400" b="1" dirty="0"/>
              <a:t>Security</a:t>
            </a:r>
            <a:r>
              <a:rPr lang="en-IN" dirty="0"/>
              <a:t>:- </a:t>
            </a:r>
            <a:r>
              <a:rPr lang="en-IN" sz="2400" cap="none" dirty="0"/>
              <a:t>It may be not secure the customer account and the data</a:t>
            </a:r>
            <a:r>
              <a:rPr lang="en-IN" cap="none" dirty="0"/>
              <a:t>.</a:t>
            </a:r>
          </a:p>
          <a:p>
            <a:r>
              <a:rPr lang="en-IN" sz="2400" b="1" dirty="0"/>
              <a:t>Limited product experience</a:t>
            </a:r>
            <a:r>
              <a:rPr lang="en-IN" dirty="0"/>
              <a:t>:- </a:t>
            </a:r>
            <a:r>
              <a:rPr lang="en-IN" sz="2400" cap="none" dirty="0"/>
              <a:t>Don’t have product in stock or don’t know about any particularly product detail.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99803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1EC18A-6118-629F-6F2F-DD70160EE1FE}"/>
              </a:ext>
            </a:extLst>
          </p:cNvPr>
          <p:cNvSpPr txBox="1"/>
          <p:nvPr/>
        </p:nvSpPr>
        <p:spPr>
          <a:xfrm>
            <a:off x="3834063" y="250256"/>
            <a:ext cx="4379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HOMEPAGE</a:t>
            </a:r>
            <a:endParaRPr lang="en-IN" sz="36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8B624D-11E3-991C-5AE9-89D959BB5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54" y="1038106"/>
            <a:ext cx="10337603" cy="50546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3962541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B89FF-0FA0-118D-BDB5-3BD6D577F5C1}"/>
              </a:ext>
            </a:extLst>
          </p:cNvPr>
          <p:cNvSpPr txBox="1"/>
          <p:nvPr/>
        </p:nvSpPr>
        <p:spPr>
          <a:xfrm>
            <a:off x="2780096" y="202131"/>
            <a:ext cx="6631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/>
              <a:t>PARTICULAR PRODUCT 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2433A5-9488-A169-332B-17E7E689C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45" y="1171274"/>
            <a:ext cx="9237044" cy="51958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880692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DC06-27ED-7210-295C-0AF3D861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1521-2FB8-92CB-4A39-9D8B23DD72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400" cap="none" dirty="0"/>
              <a:t>E- commerce is a fast growing market and in this society people are getting lazier and are now doing more shopping online.</a:t>
            </a:r>
          </a:p>
          <a:p>
            <a:r>
              <a:rPr lang="en-US" sz="2400" cap="none" dirty="0"/>
              <a:t>However, data security and the possibility of fraud are still a major concern.</a:t>
            </a:r>
          </a:p>
          <a:p>
            <a:r>
              <a:rPr lang="en-US" sz="2400" cap="none" dirty="0"/>
              <a:t>E commerce support the relationship between the customers and companies such as e mail</a:t>
            </a:r>
            <a:endParaRPr lang="en-IN" sz="2400" cap="none" dirty="0"/>
          </a:p>
        </p:txBody>
      </p:sp>
    </p:spTree>
    <p:extLst>
      <p:ext uri="{BB962C8B-B14F-4D97-AF65-F5344CB8AC3E}">
        <p14:creationId xmlns:p14="http://schemas.microsoft.com/office/powerpoint/2010/main" val="172245762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EA70-5F6C-E394-089D-6DF5A53FE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74191"/>
            <a:ext cx="10364452" cy="663713"/>
          </a:xfrm>
        </p:spPr>
        <p:txBody>
          <a:bodyPr/>
          <a:lstStyle/>
          <a:p>
            <a:r>
              <a:rPr lang="en-IN" b="1" u="sng" dirty="0"/>
              <a:t>TEAM MEMBER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5E8504-62FD-F95B-9F9D-63E6DE0B7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2830" y="3429000"/>
            <a:ext cx="3296409" cy="576262"/>
          </a:xfrm>
        </p:spPr>
        <p:txBody>
          <a:bodyPr/>
          <a:lstStyle/>
          <a:p>
            <a:r>
              <a:rPr lang="en-IN" b="1" i="1" u="sng" dirty="0"/>
              <a:t>NITESH KUMAR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8244955A-3FDC-1668-83F5-18FB0EB592F0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20" b="48986"/>
          <a:stretch/>
        </p:blipFill>
        <p:spPr>
          <a:xfrm>
            <a:off x="281343" y="695341"/>
            <a:ext cx="2782064" cy="28644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B24E80-00E3-36BE-A770-B2EE76294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95986" y="5586397"/>
            <a:ext cx="3301828" cy="576262"/>
          </a:xfrm>
        </p:spPr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ARJUN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67B515D-E703-1481-9848-A9A2ACB98471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0" b="35037"/>
          <a:stretch/>
        </p:blipFill>
        <p:spPr>
          <a:xfrm>
            <a:off x="3216834" y="2636049"/>
            <a:ext cx="2782063" cy="3034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DB1610-B8DA-139D-8F4C-7C9D3F9150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324" y="837904"/>
            <a:ext cx="2608810" cy="3016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3F221C-CFDE-B199-4AD2-D45D659D1AD3}"/>
              </a:ext>
            </a:extLst>
          </p:cNvPr>
          <p:cNvSpPr txBox="1"/>
          <p:nvPr/>
        </p:nvSpPr>
        <p:spPr>
          <a:xfrm>
            <a:off x="6499015" y="3857427"/>
            <a:ext cx="191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Mohd Harish</a:t>
            </a:r>
            <a:endParaRPr lang="en-IN" sz="2200" b="1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C38E02-4069-67A8-089F-8C4E725AC2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146" y="2564830"/>
            <a:ext cx="2618661" cy="3016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C23172-FBAF-9DAF-9F2A-924B2B39D6C9}"/>
              </a:ext>
            </a:extLst>
          </p:cNvPr>
          <p:cNvSpPr txBox="1"/>
          <p:nvPr/>
        </p:nvSpPr>
        <p:spPr>
          <a:xfrm>
            <a:off x="9591868" y="5874528"/>
            <a:ext cx="23389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Aayush Kumar</a:t>
            </a:r>
            <a:endParaRPr lang="en-IN" sz="2200" b="1" u="sng" dirty="0"/>
          </a:p>
        </p:txBody>
      </p:sp>
    </p:spTree>
    <p:extLst>
      <p:ext uri="{BB962C8B-B14F-4D97-AF65-F5344CB8AC3E}">
        <p14:creationId xmlns:p14="http://schemas.microsoft.com/office/powerpoint/2010/main" val="45097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131E2-C462-FB86-3C99-594695B1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IN" sz="9600" b="1" i="1" u="sng" dirty="0">
                <a:latin typeface="Gabriola" panose="04040605051002020D02" pitchFamily="82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04883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412</TotalTime>
  <Words>445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Gabriola</vt:lpstr>
      <vt:lpstr>Tw Cen MT</vt:lpstr>
      <vt:lpstr>Droplet</vt:lpstr>
      <vt:lpstr>E – Commerce website</vt:lpstr>
      <vt:lpstr>INTODUCTION</vt:lpstr>
      <vt:lpstr>Technology and tools used</vt:lpstr>
      <vt:lpstr>PowerPoint Presentation</vt:lpstr>
      <vt:lpstr>Types of e- commerce</vt:lpstr>
      <vt:lpstr>PowerPoint Presentation</vt:lpstr>
      <vt:lpstr>PowerPoint Presentation</vt:lpstr>
      <vt:lpstr>ADVANTAGE OF E - COMMERCE</vt:lpstr>
      <vt:lpstr>DISADVANTAGE OF E - COMMERCE</vt:lpstr>
      <vt:lpstr>PowerPoint Presentation</vt:lpstr>
      <vt:lpstr>PowerPoint Presentation</vt:lpstr>
      <vt:lpstr>conclusion</vt:lpstr>
      <vt:lpstr>TEAM MEMBER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– Commerce website</dc:title>
  <dc:creator>Navita Rao</dc:creator>
  <cp:lastModifiedBy>Navita Rao</cp:lastModifiedBy>
  <cp:revision>5</cp:revision>
  <dcterms:created xsi:type="dcterms:W3CDTF">2022-10-13T14:17:34Z</dcterms:created>
  <dcterms:modified xsi:type="dcterms:W3CDTF">2022-12-26T16:35:36Z</dcterms:modified>
</cp:coreProperties>
</file>